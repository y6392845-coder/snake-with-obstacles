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2"/>
    <p:sldId id="260" r:id="rId3"/>
    <p:sldId id="262" r:id="rId4"/>
    <p:sldId id="263" r:id="rId5"/>
    <p:sldId id="264" r:id="rId6"/>
    <p:sldId id="266" r:id="rId7"/>
    <p:sldId id="267" r:id="rId8"/>
    <p:sldId id="268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489F"/>
    <a:srgbClr val="073F9D"/>
    <a:srgbClr val="9BB3D7"/>
    <a:srgbClr val="50A6A6"/>
    <a:srgbClr val="EDF2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839" autoAdjust="0"/>
    <p:restoredTop sz="93364" autoAdjust="0"/>
  </p:normalViewPr>
  <p:slideViewPr>
    <p:cSldViewPr snapToGrid="0">
      <p:cViewPr varScale="1">
        <p:scale>
          <a:sx n="82" d="100"/>
          <a:sy n="82" d="100"/>
        </p:scale>
        <p:origin x="403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-3870" y="-12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5FD72-BEE3-4B36-BDAF-434BB0582D76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A9E6E3-4B96-40E1-A3F2-0BC660D169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74348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1FFF36-A51F-42B5-8BF7-5CECEBC38743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A8197C-45EA-4991-BCAF-46CA0E13E6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8528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005CE-243A-47C1-8DB1-9A6E378791E7}" type="datetime1">
              <a:rPr lang="ru-RU" smtClean="0"/>
              <a:t>26.12.2025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759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CE224-C3D8-4D88-9DF6-58F3C7C5AA41}" type="datetime1">
              <a:rPr lang="ru-RU" smtClean="0"/>
              <a:t>26.12.2025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9294412" y="6372252"/>
            <a:ext cx="2743200" cy="365125"/>
          </a:xfrm>
        </p:spPr>
        <p:txBody>
          <a:bodyPr/>
          <a:lstStyle>
            <a:lvl1pPr>
              <a:defRPr sz="1800" b="1"/>
            </a:lvl1pPr>
          </a:lstStyle>
          <a:p>
            <a:fld id="{29F21396-111B-4B5C-B7E2-582932F279F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04495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5447E-1068-458B-8362-46BCBA0640B4}" type="datetime1">
              <a:rPr lang="ru-RU" smtClean="0"/>
              <a:t>26.12.2025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1557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ED374-2EB1-4196-929E-A2BACBBA08A2}" type="datetime1">
              <a:rPr lang="ru-RU" smtClean="0"/>
              <a:t>26.12.2025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6743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2355F-0C64-4453-B3FB-77A48E4EF93A}" type="datetime1">
              <a:rPr lang="ru-RU" smtClean="0"/>
              <a:t>26.12.2025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9023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B994E-17F5-4CDE-B765-8710874C03DF}" type="datetime1">
              <a:rPr lang="ru-RU" smtClean="0"/>
              <a:t>26.12.2025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0407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1D9E5-DE92-446D-BC1F-6C911F207B24}" type="datetime1">
              <a:rPr lang="ru-RU" smtClean="0"/>
              <a:t>26.12.2025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5416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BB3AF-467A-4FEB-9259-A7AB24DE6FA7}" type="datetime1">
              <a:rPr lang="ru-RU" smtClean="0"/>
              <a:t>26.12.2025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2579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FB00D-B3BE-4DAA-A145-51B3F335876C}" type="datetime1">
              <a:rPr lang="ru-RU" smtClean="0"/>
              <a:t>26.12.2025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8139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CA9B0-20F8-479F-A5F8-8A5D250D8F75}" type="datetime1">
              <a:rPr lang="ru-RU" smtClean="0"/>
              <a:t>26.12.2025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9680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A4719-4079-4DF6-96DA-61EF4F73D2C0}" type="datetime1">
              <a:rPr lang="ru-RU" smtClean="0"/>
              <a:t>26.12.2025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1312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vmlDrawing" Target="../drawings/vmlDrawing1.v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D0734C-3681-4A5B-B57D-42B6698DA4C5}" type="datetime1">
              <a:rPr lang="ru-RU" smtClean="0"/>
              <a:t>26.12.2025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F21396-111B-4B5C-B7E2-582932F279F0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8" name="Объект 7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3644163140"/>
              </p:ext>
            </p:extLst>
          </p:nvPr>
        </p:nvGraphicFramePr>
        <p:xfrm>
          <a:off x="444731" y="201613"/>
          <a:ext cx="1389063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CorelDRAW" r:id="rId15" imgW="1388271" imgH="1117604" progId="CorelDraw.Graphic.21">
                  <p:embed/>
                </p:oleObj>
              </mc:Choice>
              <mc:Fallback>
                <p:oleObj name="CorelDRAW" r:id="rId15" imgW="1388271" imgH="1117604" progId="CorelDraw.Graphic.2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44731" y="201613"/>
                        <a:ext cx="1389063" cy="1117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89269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1328109" y="2492038"/>
            <a:ext cx="119110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i="1" dirty="0">
                <a:cs typeface="Times New Roman" panose="02020603050405020304" pitchFamily="18" charset="0"/>
              </a:rPr>
              <a:t>Змейка с </a:t>
            </a:r>
            <a:r>
              <a:rPr lang="ru-RU" sz="3200" b="1" i="1" dirty="0" err="1">
                <a:cs typeface="Times New Roman" panose="02020603050405020304" pitchFamily="18" charset="0"/>
              </a:rPr>
              <a:t>припятсвиями</a:t>
            </a:r>
            <a:r>
              <a:rPr lang="ru-RU" sz="3200" b="1" i="1" dirty="0"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0" y="6450676"/>
            <a:ext cx="889462" cy="270799"/>
          </a:xfrm>
        </p:spPr>
        <p:txBody>
          <a:bodyPr/>
          <a:lstStyle/>
          <a:p>
            <a:fld id="{29F21396-111B-4B5C-B7E2-582932F279F0}" type="slidenum">
              <a:rPr lang="ru-RU" smtClean="0"/>
              <a:t>1</a:t>
            </a:fld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6833395" y="4935704"/>
            <a:ext cx="4358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err="1"/>
              <a:t>Матджанов</a:t>
            </a:r>
            <a:r>
              <a:rPr lang="ru-RU" dirty="0"/>
              <a:t> </a:t>
            </a:r>
            <a:r>
              <a:rPr lang="ru-RU" dirty="0" err="1" smtClean="0"/>
              <a:t>Юнусбек</a:t>
            </a:r>
            <a:r>
              <a:rPr lang="ru-RU" dirty="0" smtClean="0"/>
              <a:t>. </a:t>
            </a:r>
            <a:r>
              <a:rPr lang="ru-RU" dirty="0"/>
              <a:t>АСУБ-25-2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27418" y="6096000"/>
            <a:ext cx="26046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Иркутск </a:t>
            </a:r>
            <a:r>
              <a:rPr lang="ru-RU" dirty="0" smtClean="0"/>
              <a:t>202</a:t>
            </a:r>
            <a:r>
              <a:rPr lang="ru-RU" dirty="0"/>
              <a:t>5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5255491" y="968233"/>
            <a:ext cx="6293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https://github.com/y6392845-coder/Snake-with-obstacles</a:t>
            </a:r>
            <a:endParaRPr lang="ru-RU" dirty="0">
              <a:highlight>
                <a:srgbClr val="C0C0C0"/>
              </a:highlight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76ADEFC-A65C-4F7B-9106-A9D518613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4014" y="1703767"/>
            <a:ext cx="3057952" cy="3000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191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2</a:t>
            </a:fld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1117600" y="1801091"/>
            <a:ext cx="1040014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Классическая "Змейка" со временем становится скучной и предсказуемой, так как требует лишь простого маневрирования. Добавление случайно генерируемых препятствий кардинально меняет это:</a:t>
            </a:r>
          </a:p>
          <a:p>
            <a:endParaRPr lang="ru-RU" dirty="0"/>
          </a:p>
          <a:p>
            <a:r>
              <a:rPr lang="ru-RU" dirty="0"/>
              <a:t>Моментально повышает сложность и интерес: Игрок должен прокладывать маршрут, а не просто собирать "еду". Это требует планирования и делает каждый раунд уникальным.</a:t>
            </a:r>
          </a:p>
          <a:p>
            <a:endParaRPr lang="ru-RU" dirty="0"/>
          </a:p>
          <a:p>
            <a:r>
              <a:rPr lang="ru-RU" dirty="0"/>
              <a:t>Актуализирует классику: Такая механика приближает проект к современным играм, где управление пространством и тактическое мышление — ключевые элементы вызова.</a:t>
            </a:r>
          </a:p>
          <a:p>
            <a:endParaRPr lang="ru-RU" dirty="0"/>
          </a:p>
          <a:p>
            <a:r>
              <a:rPr lang="ru-RU" dirty="0"/>
              <a:t>Таким образом, препятствия превращают простой аркадный автомат в динамическую головоломку, сохраняя узнаваемость игры, но предлагая игроку новый, более глубокий и увлекательный опыт.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3526" y="942109"/>
            <a:ext cx="28355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/>
              <a:t>Актуальность</a:t>
            </a:r>
          </a:p>
        </p:txBody>
      </p:sp>
    </p:spTree>
    <p:extLst>
      <p:ext uri="{BB962C8B-B14F-4D97-AF65-F5344CB8AC3E}">
        <p14:creationId xmlns:p14="http://schemas.microsoft.com/office/powerpoint/2010/main" val="3137211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3</a:t>
            </a:fld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1117600" y="1801091"/>
            <a:ext cx="104001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Программный продукт «Змейка с препятствиями» — это модернизация классической аркадной игры, где добавление случайно генерируемых барьеров и системы уровней решает проблему низкой вовлеченности и предсказуемости геймплея.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3525" y="942109"/>
            <a:ext cx="57912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/>
              <a:t>Предлагаемое решение</a:t>
            </a:r>
          </a:p>
        </p:txBody>
      </p:sp>
    </p:spTree>
    <p:extLst>
      <p:ext uri="{BB962C8B-B14F-4D97-AF65-F5344CB8AC3E}">
        <p14:creationId xmlns:p14="http://schemas.microsoft.com/office/powerpoint/2010/main" val="2236745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4</a:t>
            </a:fld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2013525" y="942109"/>
            <a:ext cx="72808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/>
              <a:t>Используемы стек технологий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5C7B66D-DF8D-4C53-967D-E654F15B316B}"/>
              </a:ext>
            </a:extLst>
          </p:cNvPr>
          <p:cNvSpPr/>
          <p:nvPr/>
        </p:nvSpPr>
        <p:spPr>
          <a:xfrm>
            <a:off x="961318" y="1856687"/>
            <a:ext cx="938530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Проект реализован на чистом </a:t>
            </a:r>
            <a:r>
              <a:rPr lang="ru-RU" dirty="0" err="1"/>
              <a:t>Python</a:t>
            </a:r>
            <a:r>
              <a:rPr lang="ru-RU" dirty="0"/>
              <a:t> с использованием его стандартной библиотеки, что гарантирует стабильность, простоту развертывания и отсутствие зависимостей от внешних пакетов.</a:t>
            </a:r>
          </a:p>
          <a:p>
            <a:endParaRPr lang="ru-RU" dirty="0"/>
          </a:p>
          <a:p>
            <a:r>
              <a:rPr lang="ru-RU" dirty="0"/>
              <a:t>Язык программирования: </a:t>
            </a:r>
            <a:r>
              <a:rPr lang="ru-RU" dirty="0" err="1"/>
              <a:t>Python</a:t>
            </a:r>
            <a:r>
              <a:rPr lang="ru-RU" dirty="0"/>
              <a:t> 3.x – выбран за свою простоту, читаемость и широкие возможности для быстрой разработки игровых прототипов.</a:t>
            </a:r>
          </a:p>
          <a:p>
            <a:endParaRPr lang="ru-RU" dirty="0"/>
          </a:p>
          <a:p>
            <a:r>
              <a:rPr lang="ru-RU" dirty="0"/>
              <a:t>Интерфейс и графика: </a:t>
            </a:r>
            <a:r>
              <a:rPr lang="ru-RU" dirty="0" err="1"/>
              <a:t>tkinter</a:t>
            </a:r>
            <a:r>
              <a:rPr lang="ru-RU" dirty="0"/>
              <a:t> – стандартная кроссплатформенная библиотека </a:t>
            </a:r>
            <a:r>
              <a:rPr lang="ru-RU" dirty="0" err="1"/>
              <a:t>Python</a:t>
            </a:r>
            <a:r>
              <a:rPr lang="ru-RU" dirty="0"/>
              <a:t>. Она используется для создания игрового окна, отрисовки графики на холсте (</a:t>
            </a:r>
            <a:r>
              <a:rPr lang="ru-RU" dirty="0" err="1"/>
              <a:t>Canvas</a:t>
            </a:r>
            <a:r>
              <a:rPr lang="ru-RU" dirty="0"/>
              <a:t>) и обработки пользовательского ввода с клавиатуры.</a:t>
            </a:r>
          </a:p>
          <a:p>
            <a:endParaRPr lang="ru-RU" dirty="0"/>
          </a:p>
          <a:p>
            <a:r>
              <a:rPr lang="ru-RU" dirty="0"/>
              <a:t>Логика и алгоритмы: Стандартные библиотеки </a:t>
            </a:r>
            <a:r>
              <a:rPr lang="ru-RU" dirty="0" err="1"/>
              <a:t>random</a:t>
            </a:r>
            <a:r>
              <a:rPr lang="ru-RU" dirty="0"/>
              <a:t> для генерации случайных позиций препятствий и "еды", а также работа со списками и кортежами для управления состоянием игрового поля. Вся игровая логика реализована в рамках объектно-ориентированного подхода в классе </a:t>
            </a:r>
            <a:r>
              <a:rPr lang="ru-RU" dirty="0" err="1"/>
              <a:t>SnakeGame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23271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5</a:t>
            </a:fld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1089890" y="2290618"/>
            <a:ext cx="10400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Приводим часть кода, и описываем что в ней происходит, ту часть которую вы писали сами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3525" y="942109"/>
            <a:ext cx="97536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/>
              <a:t>Описание реализации проекты, основные моменты (несколько слайдов)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1D37D64-0DAB-2930-DB75-963F7D48C4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88" y="2777546"/>
            <a:ext cx="5382376" cy="3477110"/>
          </a:xfrm>
          <a:prstGeom prst="rect">
            <a:avLst/>
          </a:prstGeom>
        </p:spPr>
      </p:pic>
      <p:sp>
        <p:nvSpPr>
          <p:cNvPr id="4" name="AutoShape 2">
            <a:extLst>
              <a:ext uri="{FF2B5EF4-FFF2-40B4-BE49-F238E27FC236}">
                <a16:creationId xmlns:a16="http://schemas.microsoft.com/office/drawing/2014/main" id="{7D849D7D-AB24-A45B-0AE3-9C1E248D8B8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33911" y="369378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0C55C01-DDF7-C06C-D963-76123860E4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7685" y="2922104"/>
            <a:ext cx="4486901" cy="3190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4086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6</a:t>
            </a:fld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2013525" y="942109"/>
            <a:ext cx="97536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/>
              <a:t>Результат</a:t>
            </a:r>
          </a:p>
        </p:txBody>
      </p:sp>
      <p:pic>
        <p:nvPicPr>
          <p:cNvPr id="2" name="Counter-strike 2 2025.12.17 - 21.10.08.01 (online-video-cutter.com)">
            <a:hlinkClick r:id="" action="ppaction://media"/>
            <a:extLst>
              <a:ext uri="{FF2B5EF4-FFF2-40B4-BE49-F238E27FC236}">
                <a16:creationId xmlns:a16="http://schemas.microsoft.com/office/drawing/2014/main" id="{5F8B833B-4868-4D2A-AAE4-2F3A586CC73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436662" y="592164"/>
            <a:ext cx="4857750" cy="596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938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611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7</a:t>
            </a:fld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1848425" y="710692"/>
            <a:ext cx="97536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/>
              <a:t>Результат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5EC1620-66D4-4F79-8D07-C7548DBCA1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4" y="1792661"/>
            <a:ext cx="12155596" cy="4143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7095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8</a:t>
            </a:fld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2284010" y="895927"/>
            <a:ext cx="97536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/>
              <a:t>Выводы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79EA7B9-C3E6-488B-A72D-95DABCD6FE23}"/>
              </a:ext>
            </a:extLst>
          </p:cNvPr>
          <p:cNvSpPr/>
          <p:nvPr/>
        </p:nvSpPr>
        <p:spPr>
          <a:xfrm>
            <a:off x="154388" y="1542258"/>
            <a:ext cx="12037612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Освоенные технологии</a:t>
            </a:r>
          </a:p>
          <a:p>
            <a:endParaRPr lang="ru-RU" sz="1400" dirty="0"/>
          </a:p>
          <a:p>
            <a:r>
              <a:rPr lang="ru-RU" sz="1400" dirty="0"/>
              <a:t>Объектно-ориентированное проектирование игр — создание основной игровой логики в классе </a:t>
            </a:r>
            <a:r>
              <a:rPr lang="ru-RU" sz="1400" dirty="0" err="1"/>
              <a:t>SnakeGame</a:t>
            </a:r>
            <a:r>
              <a:rPr lang="ru-RU" sz="1400" dirty="0"/>
              <a:t>, где состояние игры, методы и обработка событий чётко структурированы.</a:t>
            </a:r>
          </a:p>
          <a:p>
            <a:endParaRPr lang="ru-RU" sz="1400" dirty="0"/>
          </a:p>
          <a:p>
            <a:r>
              <a:rPr lang="ru-RU" sz="1400" dirty="0"/>
              <a:t>Создание интерактивной графики с </a:t>
            </a:r>
            <a:r>
              <a:rPr lang="ru-RU" sz="1400" dirty="0" err="1"/>
              <a:t>tkinter.Canvas</a:t>
            </a:r>
            <a:r>
              <a:rPr lang="ru-RU" sz="1400" dirty="0"/>
              <a:t> — работа с холстом для отрисовки, перемещения и обновления всех игровых элементов (змейка, еда, препятствия) с использованием геометрических примитивов и системы тегов.</a:t>
            </a:r>
          </a:p>
          <a:p>
            <a:endParaRPr lang="ru-RU" sz="1400" dirty="0"/>
          </a:p>
          <a:p>
            <a:r>
              <a:rPr lang="ru-RU" sz="1400" dirty="0"/>
              <a:t>Реализация игрового цикла — использование метода </a:t>
            </a:r>
            <a:r>
              <a:rPr lang="ru-RU" sz="1400" dirty="0" err="1"/>
              <a:t>root.after</a:t>
            </a:r>
            <a:r>
              <a:rPr lang="ru-RU" sz="1400" dirty="0"/>
              <a:t>() для создания плавной, неблокирующей анимации и управления временем (скоростью игры).</a:t>
            </a:r>
          </a:p>
          <a:p>
            <a:endParaRPr lang="ru-RU" sz="1400" dirty="0"/>
          </a:p>
          <a:p>
            <a:r>
              <a:rPr lang="ru-RU" sz="1400" dirty="0"/>
              <a:t>Обработка событий ввода — настройка системы привязки клавиш (</a:t>
            </a:r>
            <a:r>
              <a:rPr lang="ru-RU" sz="1400" dirty="0" err="1"/>
              <a:t>bind</a:t>
            </a:r>
            <a:r>
              <a:rPr lang="ru-RU" sz="1400" dirty="0"/>
              <a:t>) для отзывчивого управления, включая обработку направлений, паузы и перезапуска.</a:t>
            </a:r>
          </a:p>
          <a:p>
            <a:endParaRPr lang="ru-RU" sz="1400" dirty="0"/>
          </a:p>
          <a:p>
            <a:r>
              <a:rPr lang="ru-RU" sz="1400" dirty="0"/>
              <a:t>Главные открытия</a:t>
            </a:r>
          </a:p>
          <a:p>
            <a:endParaRPr lang="ru-RU" sz="1400" dirty="0"/>
          </a:p>
          <a:p>
            <a:r>
              <a:rPr lang="ru-RU" sz="1400" dirty="0"/>
              <a:t>От логики к визуализации — как преобразовать внутренние структуры данных (списки координат для змейки и препятствий) в динамическую графическую сцену и обеспечить их согласованное обновление.</a:t>
            </a:r>
          </a:p>
          <a:p>
            <a:endParaRPr lang="ru-RU" sz="1400" dirty="0"/>
          </a:p>
          <a:p>
            <a:r>
              <a:rPr lang="ru-RU" sz="1400" dirty="0"/>
              <a:t>Принципы балансировки сложности — понимание того, как увеличение количества препятствий с уровнем влияет на игровой опыт, и важность корректной их генерации (чтобы не блокировать игрока полностью).</a:t>
            </a:r>
          </a:p>
        </p:txBody>
      </p:sp>
    </p:spTree>
    <p:extLst>
      <p:ext uri="{BB962C8B-B14F-4D97-AF65-F5344CB8AC3E}">
        <p14:creationId xmlns:p14="http://schemas.microsoft.com/office/powerpoint/2010/main" val="38198769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826</TotalTime>
  <Words>373</Words>
  <Application>Microsoft Office PowerPoint</Application>
  <PresentationFormat>Широкоэкранный</PresentationFormat>
  <Paragraphs>50</Paragraphs>
  <Slides>8</Slides>
  <Notes>0</Notes>
  <HiddenSlides>0</HiddenSlides>
  <MMClips>1</MMClips>
  <ScaleCrop>false</ScaleCrop>
  <HeadingPairs>
    <vt:vector size="8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Тема Office</vt:lpstr>
      <vt:lpstr>CorelDRAW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q</cp:lastModifiedBy>
  <cp:revision>114</cp:revision>
  <dcterms:created xsi:type="dcterms:W3CDTF">2021-02-08T11:39:32Z</dcterms:created>
  <dcterms:modified xsi:type="dcterms:W3CDTF">2025-12-26T03:17:11Z</dcterms:modified>
</cp:coreProperties>
</file>